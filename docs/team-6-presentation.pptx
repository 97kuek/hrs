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71" r:id="rId2"/>
    <p:sldId id="277" r:id="rId3"/>
    <p:sldId id="278" r:id="rId4"/>
    <p:sldId id="268" r:id="rId5"/>
    <p:sldId id="272" r:id="rId6"/>
    <p:sldId id="275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56" y="6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8C3D5-45E6-4508-8008-6109462746D9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CDC67-8E5D-43F0-BA78-C182AA4A86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2282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CDC67-8E5D-43F0-BA78-C182AA4A86C4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9120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C25A1A-E4A6-6C62-C665-F2192966C0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78B3197-62E8-1966-A87F-14535BDC5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704C71-AC19-7F9D-96FF-71EBFB393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8649-13C8-42D8-B024-DF5A04FCB88E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9A8FD8-5087-6173-EE58-93331EB55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86CAE3-383D-36D5-E0F6-233BB5B64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560E9-758B-4E94-BD47-4CEC3C19E3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1911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686BEF-9946-EF84-4DD4-92E600614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F703075-1A4C-CB45-6962-6525BE138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20A57C-4E0A-D3FE-B266-91018A835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8649-13C8-42D8-B024-DF5A04FCB88E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2D26EC-FC20-C360-7ED4-969395BBC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88129A-5AB3-5AEE-E269-D0A8B07F4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560E9-758B-4E94-BD47-4CEC3C19E3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9813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54BB76-C322-3B50-26C7-E7F2CF21B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37C7395-832E-3AEA-E793-585572EC7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52151D-03C3-4F8A-F18A-D75A3741D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8649-13C8-42D8-B024-DF5A04FCB88E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B70BD1-FE76-7B0B-7761-73C9D6371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ABA9D2-1B08-0EF8-FF38-3D7F3BD86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560E9-758B-4E94-BD47-4CEC3C19E3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611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9E02E0-9392-12BE-F82B-93EAB7B1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072B3C-55FF-58C6-FCF2-841188951B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37FF727-1FD0-BDD3-25DA-9D02AF5E1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CA601ED-68A5-5BD9-2B8B-EEA786C73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8649-13C8-42D8-B024-DF5A04FCB88E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526F857-9346-DED3-AE97-FD297CB19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212F2B-26EA-7FDE-34AC-88BE56F0E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560E9-758B-4E94-BD47-4CEC3C19E3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634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C27A95-6EDD-9F8F-96AE-8507D7BAA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9B82BC-E2D9-C84D-E4D3-03C07F684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FD3E31A-41AB-D28A-02AB-2CB6B6A9D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018E76A-A7BF-E8A6-141C-18C2B4DBFA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AE51AED-F8DD-D118-7196-482D3DF011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7CD01FC-9592-6BBD-1AB1-3D43114DD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8649-13C8-42D8-B024-DF5A04FCB88E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6516D13-653D-A5A1-8585-23551B3C7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D56574B-1563-76D6-8AC5-1330E6A57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560E9-758B-4E94-BD47-4CEC3C19E3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1283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89148E-35FE-260F-9BD0-4D68B9B56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7C9559B-5C4E-70A4-9ABA-12870788D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8649-13C8-42D8-B024-DF5A04FCB88E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223D5B8-EDE8-6203-F302-4A5045903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1FA38EA-A2D9-04FF-43BC-6264C37D8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560E9-758B-4E94-BD47-4CEC3C19E3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8554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4A7C526-63FD-598C-8F3A-5B4F3948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8649-13C8-42D8-B024-DF5A04FCB88E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F280C34-7A3F-D3F1-9B68-4AF432A58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F834700-E4CB-35DE-A1D3-0208ADA54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560E9-758B-4E94-BD47-4CEC3C19E3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2791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0526F2-E584-C160-0DFD-7228E538D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A32EC9-A346-FF73-BD74-2B60C8B45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2F0BD7F-396D-2CB6-2B6D-2FAF097E1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4E7AF02-4348-7B47-B755-317470C5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8649-13C8-42D8-B024-DF5A04FCB88E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7379CB6-AC3C-7ADE-1AB8-CF90DD9C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8AE661-80E7-1C32-CB77-490AD04F2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560E9-758B-4E94-BD47-4CEC3C19E3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6264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CD073D-7462-F517-4833-835A7EA9B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E646E85-C91F-DAF4-18F5-AB9C32BEF6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6B3C71D-1E8D-9D53-99FD-3081CA1F6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20016A6-0090-B914-FA1C-925975ECB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8649-13C8-42D8-B024-DF5A04FCB88E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7339BE-47D2-247A-C55C-18B95E02C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AB35F50-399F-6225-911E-99D6592EA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560E9-758B-4E94-BD47-4CEC3C19E3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26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06B2E5-5EFA-8512-E8AB-3D65E3CEB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385ABE9-D8A1-784F-469F-73C2EFE3D9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3A3FA3-6483-CAD5-A0FA-7C1205924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8649-13C8-42D8-B024-DF5A04FCB88E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9ED8F9-4BFD-8531-1A75-4167EE6CF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9A46D0-3404-1EEA-1625-A5CB071CC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560E9-758B-4E94-BD47-4CEC3C19E3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2801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AC41972-E1C9-452B-8831-88A97ED427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2B5935-1E5D-19A8-7CE9-F522B5FA1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2D1AE8-9115-7873-0C21-024887BC7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8649-13C8-42D8-B024-DF5A04FCB88E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191D6E-BA64-8303-24EE-19F0D9C16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04A7DF-4B1C-5BFA-7B92-60AE74752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560E9-758B-4E94-BD47-4CEC3C19E3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616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A82AF9D-DC0B-3EE3-5DD1-69FD51A2C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14775A-7040-1CCC-9E71-2A5A68583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D2DFC9-04B3-CBD3-8606-B25C4EF000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18649-13C8-42D8-B024-DF5A04FCB88E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F14A33-8FA7-FC4D-8D04-818EC8786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E54A6A-FD7A-1FD1-0AD0-8B920F7FD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2560E9-758B-4E94-BD47-4CEC3C19E32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50" name="AccentBar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13395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kern="1200">
          <a:solidFill>
            <a:srgbClr val="0E284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rgbClr val="1B273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754158-8D09-5225-542A-6629BE81CD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68500"/>
            <a:ext cx="9144000" cy="1905000"/>
          </a:xfrm>
        </p:spPr>
        <p:txBody>
          <a:bodyPr/>
          <a:lstStyle/>
          <a:p>
            <a:r>
              <a:rPr kumimoji="1" lang="ja-JP" altLang="en-US" dirty="0"/>
              <a:t>チーム</a:t>
            </a:r>
            <a:r>
              <a:rPr kumimoji="1" lang="en-US" altLang="ja-JP" dirty="0"/>
              <a:t>6</a:t>
            </a:r>
            <a:r>
              <a:rPr lang="ja-JP" altLang="en-US" dirty="0"/>
              <a:t> 発表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2EF88CB-29B4-06B6-C308-79399BF32E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4000" y="4254500"/>
            <a:ext cx="4064000" cy="1651000"/>
          </a:xfrm>
        </p:spPr>
        <p:txBody>
          <a:bodyPr/>
          <a:lstStyle/>
          <a:p>
            <a:pPr algn="l">
              <a:lnSpc>
                <a:spcPct val="140000"/>
              </a:lnSpc>
              <a:tabLst>
                <a:tab pos="3860000" algn="r"/>
              </a:tabLst>
            </a:pPr>
            <a:r>
              <a:rPr kumimoji="1" lang="en-US" altLang="ja-JP" sz="2000" dirty="0">
                <a:solidFill>
                  <a:srgbClr val="0E2841"/>
                </a:solidFill>
              </a:rPr>
              <a:t>1W242038	</a:t>
            </a:r>
            <a:r>
              <a:rPr kumimoji="1" lang="ja-JP" altLang="en-US" sz="2000" dirty="0">
                <a:solidFill>
                  <a:srgbClr val="0E2841"/>
                </a:solidFill>
              </a:rPr>
              <a:t>植木敬太郎</a:t>
            </a:r>
          </a:p>
          <a:p>
            <a:pPr algn="l">
              <a:lnSpc>
                <a:spcPct val="140000"/>
              </a:lnSpc>
              <a:tabLst>
                <a:tab pos="3860000" algn="r"/>
              </a:tabLst>
            </a:pPr>
            <a:r>
              <a:rPr lang="en-US" altLang="ja-JP" sz="2000" dirty="0">
                <a:solidFill>
                  <a:srgbClr val="0E2841"/>
                </a:solidFill>
              </a:rPr>
              <a:t>1W242339	</a:t>
            </a:r>
            <a:r>
              <a:rPr lang="ja-JP" altLang="en-US" sz="2000" dirty="0">
                <a:solidFill>
                  <a:srgbClr val="0E2841"/>
                </a:solidFill>
              </a:rPr>
              <a:t>保科智哉</a:t>
            </a:r>
          </a:p>
          <a:p>
            <a:pPr algn="l">
              <a:lnSpc>
                <a:spcPct val="140000"/>
              </a:lnSpc>
              <a:tabLst>
                <a:tab pos="3860000" algn="r"/>
              </a:tabLst>
            </a:pPr>
            <a:r>
              <a:rPr kumimoji="1" lang="en-US" altLang="ja-JP" sz="2000" dirty="0">
                <a:solidFill>
                  <a:srgbClr val="0E2841"/>
                </a:solidFill>
              </a:rPr>
              <a:t>1W243038	</a:t>
            </a:r>
            <a:r>
              <a:rPr kumimoji="1" lang="ja-JP" altLang="en-US" sz="2000" dirty="0">
                <a:solidFill>
                  <a:srgbClr val="0E2841"/>
                </a:solidFill>
              </a:rPr>
              <a:t>川崎拓海</a:t>
            </a:r>
          </a:p>
        </p:txBody>
      </p:sp>
      <p:sp>
        <p:nvSpPr>
          <p:cNvPr id="4" name="AccentLine">
            <a:extLst>
              <a:ext uri="{FF2B5EF4-FFF2-40B4-BE49-F238E27FC236}">
                <a16:creationId xmlns:a16="http://schemas.microsoft.com/office/drawing/2014/main" id="{38709E4F-69F7-455C-85C2-F9A73350D5E7}"/>
              </a:ext>
            </a:extLst>
          </p:cNvPr>
          <p:cNvSpPr/>
          <p:nvPr/>
        </p:nvSpPr>
        <p:spPr>
          <a:xfrm>
            <a:off x="5334000" y="4000500"/>
            <a:ext cx="1524000" cy="508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5441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726B89-42C6-47D0-0507-516191020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ユースケース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55AEE93-8541-3CEC-03FF-F3320DEDE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1484982"/>
            <a:ext cx="6297182" cy="4765822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0FD67F0-3AD0-FDAD-DD30-05D07A41ED6A}"/>
              </a:ext>
            </a:extLst>
          </p:cNvPr>
          <p:cNvSpPr txBox="1"/>
          <p:nvPr/>
        </p:nvSpPr>
        <p:spPr>
          <a:xfrm>
            <a:off x="7111999" y="1905000"/>
            <a:ext cx="4658659" cy="431800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>
              <a:spcAft>
                <a:spcPts val="600"/>
              </a:spcAft>
              <a:buNone/>
            </a:pPr>
            <a:r>
              <a:rPr kumimoji="1" lang="ja-JP" altLang="en-US" sz="2000" b="1" dirty="0">
                <a:solidFill>
                  <a:srgbClr val="156082"/>
                </a:solidFill>
              </a:rPr>
              <a:t>システムの概要</a:t>
            </a:r>
          </a:p>
          <a:p>
            <a:pPr marL="285750" indent="-285750">
              <a:lnSpc>
                <a:spcPct val="120000"/>
              </a:lnSpc>
              <a:spcBef>
                <a:spcPts val="400"/>
              </a:spcBef>
              <a:buFont typeface="Arial"/>
              <a:buChar char="•"/>
            </a:pPr>
            <a:r>
              <a:rPr kumimoji="1" lang="en-US" altLang="ja-JP" sz="2000" b="1" dirty="0"/>
              <a:t>Web</a:t>
            </a:r>
            <a:r>
              <a:rPr kumimoji="1" lang="ja-JP" altLang="en-US" sz="2000" b="1" dirty="0"/>
              <a:t>アプリ</a:t>
            </a:r>
            <a:r>
              <a:rPr kumimoji="1" lang="ja-JP" altLang="en-US" sz="2000" dirty="0"/>
              <a:t>として実装（</a:t>
            </a:r>
            <a:r>
              <a:rPr lang="en-US" altLang="ja-JP" sz="2000" dirty="0"/>
              <a:t>TypeScript+Next.js</a:t>
            </a:r>
            <a:r>
              <a:rPr lang="ja-JP" altLang="en-US" sz="2000" dirty="0"/>
              <a:t>）</a:t>
            </a:r>
          </a:p>
          <a:p>
            <a:pPr marL="285750" indent="-285750">
              <a:lnSpc>
                <a:spcPct val="120000"/>
              </a:lnSpc>
              <a:spcBef>
                <a:spcPts val="400"/>
              </a:spcBef>
              <a:buFont typeface="Arial"/>
              <a:buChar char="•"/>
            </a:pPr>
            <a:r>
              <a:rPr lang="ja-JP" altLang="en-US" sz="2000" dirty="0"/>
              <a:t>登録メールアドレスへ</a:t>
            </a:r>
            <a:r>
              <a:rPr lang="ja-JP" altLang="en-US" sz="2000" b="1" dirty="0"/>
              <a:t>自動通知</a:t>
            </a:r>
            <a:r>
              <a:rPr lang="ja-JP" altLang="en-US" sz="2000" dirty="0"/>
              <a:t>機能</a:t>
            </a:r>
          </a:p>
          <a:p>
            <a:pPr marL="285750" indent="-285750">
              <a:lnSpc>
                <a:spcPct val="120000"/>
              </a:lnSpc>
              <a:spcBef>
                <a:spcPts val="400"/>
              </a:spcBef>
              <a:buFont typeface="Arial"/>
              <a:buChar char="•"/>
            </a:pPr>
            <a:r>
              <a:rPr lang="ja-JP" altLang="en-US" sz="2000" dirty="0"/>
              <a:t>予約キャンセル処理・</a:t>
            </a:r>
            <a:r>
              <a:rPr lang="ja-JP" altLang="en-US" sz="2000" b="1" dirty="0"/>
              <a:t>キャンセルポリシー</a:t>
            </a:r>
            <a:r>
              <a:rPr lang="ja-JP" altLang="en-US" sz="2000" dirty="0"/>
              <a:t>の実装</a:t>
            </a:r>
          </a:p>
        </p:txBody>
      </p:sp>
      <p:sp>
        <p:nvSpPr>
          <p:cNvPr id="4" name="TitleAccent">
            <a:extLst>
              <a:ext uri="{FF2B5EF4-FFF2-40B4-BE49-F238E27FC236}">
                <a16:creationId xmlns:a16="http://schemas.microsoft.com/office/drawing/2014/main" id="{B57A4189-3DB8-4586-B794-FAE31758C87E}"/>
              </a:ext>
            </a:extLst>
          </p:cNvPr>
          <p:cNvSpPr/>
          <p:nvPr/>
        </p:nvSpPr>
        <p:spPr>
          <a:xfrm>
            <a:off x="838200" y="1371600"/>
            <a:ext cx="1219200" cy="508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80575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6B21F4-0C1E-65BA-60DC-908421A97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クラス図に基づく設計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B4C1070-DF65-C2D1-5ADB-69C3BA89E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00" y="1481149"/>
            <a:ext cx="5660835" cy="5011726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13EC5F2-A728-7BBA-9998-4FEF1A12E04C}"/>
              </a:ext>
            </a:extLst>
          </p:cNvPr>
          <p:cNvSpPr txBox="1"/>
          <p:nvPr/>
        </p:nvSpPr>
        <p:spPr>
          <a:xfrm>
            <a:off x="6502400" y="1905000"/>
            <a:ext cx="5080000" cy="444500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>
              <a:buNone/>
            </a:pPr>
            <a:r>
              <a:rPr lang="ja-JP" altLang="en-US" sz="2000" b="1" dirty="0">
                <a:solidFill>
                  <a:srgbClr val="156082"/>
                </a:solidFill>
              </a:rPr>
              <a:t>クラス図から DB・API 設計へ</a:t>
            </a:r>
          </a:p>
          <a:p>
            <a:pPr marL="285750" indent="-285750">
              <a:lnSpc>
                <a:spcPct val="118000"/>
              </a:lnSpc>
              <a:spcBef>
                <a:spcPts val="600"/>
              </a:spcBef>
              <a:buFont typeface="Arial"/>
              <a:buChar char="•"/>
            </a:pPr>
            <a:r>
              <a:rPr lang="ja-JP" altLang="en-US" sz="2000" dirty="0"/>
              <a:t>多重度（1対多・多対多）を</a:t>
            </a:r>
            <a:r>
              <a:rPr lang="ja-JP" altLang="en-US" sz="2000" b="1" dirty="0"/>
              <a:t>テーブルのリレーション</a:t>
            </a:r>
            <a:r>
              <a:rPr lang="ja-JP" altLang="en-US" sz="2000" dirty="0"/>
              <a:t>に対応</a:t>
            </a:r>
          </a:p>
          <a:p>
            <a:pPr marL="285750" indent="-285750">
              <a:lnSpc>
                <a:spcPct val="118000"/>
              </a:lnSpc>
              <a:spcBef>
                <a:spcPts val="600"/>
              </a:spcBef>
              <a:buFont typeface="Arial"/>
              <a:buChar char="•"/>
            </a:pPr>
            <a:r>
              <a:rPr lang="ja-JP" altLang="en-US" sz="2000" dirty="0"/>
              <a:t>クラスの属性を</a:t>
            </a:r>
            <a:r>
              <a:rPr lang="ja-JP" altLang="en-US" sz="2000" b="1" dirty="0"/>
              <a:t>カラム</a:t>
            </a:r>
            <a:r>
              <a:rPr lang="ja-JP" altLang="en-US" sz="2000" dirty="0"/>
              <a:t>、識別子を</a:t>
            </a:r>
            <a:r>
              <a:rPr lang="ja-JP" altLang="en-US" sz="2000" b="1" dirty="0"/>
              <a:t>主キー</a:t>
            </a:r>
            <a:r>
              <a:rPr lang="ja-JP" altLang="en-US" sz="2000" dirty="0"/>
              <a:t>として設計</a:t>
            </a:r>
          </a:p>
          <a:p>
            <a:pPr marL="285750" indent="-285750">
              <a:lnSpc>
                <a:spcPct val="118000"/>
              </a:lnSpc>
              <a:spcBef>
                <a:spcPts val="600"/>
              </a:spcBef>
              <a:buFont typeface="Arial"/>
              <a:buChar char="•"/>
            </a:pPr>
            <a:r>
              <a:rPr lang="ja-JP" altLang="en-US" sz="2000" dirty="0"/>
              <a:t>多対多は</a:t>
            </a:r>
            <a:r>
              <a:rPr lang="ja-JP" altLang="en-US" sz="2000" b="1" dirty="0"/>
              <a:t>中間テーブル</a:t>
            </a:r>
            <a:r>
              <a:rPr lang="ja-JP" altLang="en-US" sz="2000" dirty="0"/>
              <a:t>で表現</a:t>
            </a:r>
          </a:p>
          <a:p>
            <a:pPr marL="285750" indent="-285750">
              <a:lnSpc>
                <a:spcPct val="118000"/>
              </a:lnSpc>
              <a:spcBef>
                <a:spcPts val="600"/>
              </a:spcBef>
              <a:buFont typeface="Arial"/>
              <a:buChar char="•"/>
            </a:pPr>
            <a:r>
              <a:rPr lang="ja-JP" altLang="en-US" sz="2000" dirty="0"/>
              <a:t>この設計をもとに </a:t>
            </a:r>
            <a:r>
              <a:rPr lang="en-US" altLang="ja-JP" sz="2000" b="1" dirty="0"/>
              <a:t>DB</a:t>
            </a:r>
            <a:r>
              <a:rPr lang="ja-JP" altLang="en-US" sz="2000" b="1" dirty="0"/>
              <a:t>と </a:t>
            </a:r>
            <a:r>
              <a:rPr lang="en-US" altLang="ja-JP" sz="2000" b="1" dirty="0"/>
              <a:t>API</a:t>
            </a:r>
            <a:r>
              <a:rPr lang="ja-JP" altLang="en-US" sz="2000" dirty="0"/>
              <a:t> を実装</a:t>
            </a:r>
          </a:p>
        </p:txBody>
      </p:sp>
      <p:sp>
        <p:nvSpPr>
          <p:cNvPr id="7" name="TitleAccent">
            <a:extLst>
              <a:ext uri="{FF2B5EF4-FFF2-40B4-BE49-F238E27FC236}">
                <a16:creationId xmlns:a16="http://schemas.microsoft.com/office/drawing/2014/main" id="{38856F47-AC17-4BF8-B84F-9EF628013B7B}"/>
              </a:ext>
            </a:extLst>
          </p:cNvPr>
          <p:cNvSpPr/>
          <p:nvPr/>
        </p:nvSpPr>
        <p:spPr>
          <a:xfrm>
            <a:off x="838200" y="1371600"/>
            <a:ext cx="1219200" cy="508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04236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F43306-43BD-8E4E-BF8A-116ECD825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開発プロセスの工夫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963908-AA78-A6F5-4E36-36EA2C486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sz="2000" dirty="0"/>
              <a:t>進捗管理は </a:t>
            </a:r>
            <a:r>
              <a:rPr kumimoji="1" lang="en-US" altLang="ja-JP" sz="2000" b="1" dirty="0"/>
              <a:t>GitHub Projects</a:t>
            </a:r>
            <a:r>
              <a:rPr kumimoji="1" lang="ja-JP" altLang="en-US" sz="2000" b="1" dirty="0"/>
              <a:t> </a:t>
            </a:r>
            <a:r>
              <a:rPr kumimoji="1" lang="ja-JP" altLang="en-US" sz="2000" dirty="0"/>
              <a:t>で実施</a:t>
            </a:r>
            <a:endParaRPr lang="en-US" altLang="ja-JP" sz="2000" dirty="0"/>
          </a:p>
          <a:p>
            <a:r>
              <a:rPr kumimoji="1" lang="en-US" altLang="ja-JP" sz="2000" dirty="0"/>
              <a:t>1issue / 1</a:t>
            </a:r>
            <a:r>
              <a:rPr lang="ja-JP" altLang="en-US" sz="2000" dirty="0"/>
              <a:t>成果物 </a:t>
            </a:r>
            <a:r>
              <a:rPr lang="en-US" altLang="ja-JP" sz="2000" dirty="0"/>
              <a:t>/ 1</a:t>
            </a:r>
            <a:r>
              <a:rPr lang="ja-JP" altLang="en-US" sz="2000" dirty="0"/>
              <a:t>ブランチ </a:t>
            </a:r>
            <a:r>
              <a:rPr lang="en-US" altLang="ja-JP" sz="2000" dirty="0"/>
              <a:t>/ 1 PR </a:t>
            </a:r>
            <a:r>
              <a:rPr lang="ja-JP" altLang="en-US" sz="2000" dirty="0"/>
              <a:t>を徹底（</a:t>
            </a:r>
            <a:r>
              <a:rPr lang="en-US" altLang="ja-JP" sz="2000" dirty="0"/>
              <a:t>CONTRIBUTING.md</a:t>
            </a:r>
            <a:r>
              <a:rPr lang="ja-JP" altLang="en-US" sz="2000" dirty="0"/>
              <a:t>に集約）</a:t>
            </a:r>
            <a:endParaRPr kumimoji="1" lang="ja-JP" altLang="en-US" sz="2000" dirty="0"/>
          </a:p>
          <a:p>
            <a:r>
              <a:rPr lang="en-US" altLang="ja-JP" sz="2000" b="1" dirty="0"/>
              <a:t>GitHub Discussion</a:t>
            </a:r>
            <a:r>
              <a:rPr lang="ja-JP" altLang="en-US" sz="2000" dirty="0"/>
              <a:t>で調べた知識を共有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B2E6AA6-131D-5D74-864C-5E05781410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175000"/>
            <a:ext cx="5727700" cy="3175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C4A98B1-16BA-84FE-ADB2-3F3C2A11A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300" y="3175000"/>
            <a:ext cx="3873500" cy="3175000"/>
          </a:xfrm>
          <a:prstGeom prst="rect">
            <a:avLst/>
          </a:prstGeom>
        </p:spPr>
      </p:pic>
      <p:sp>
        <p:nvSpPr>
          <p:cNvPr id="4" name="TitleAccent">
            <a:extLst>
              <a:ext uri="{FF2B5EF4-FFF2-40B4-BE49-F238E27FC236}">
                <a16:creationId xmlns:a16="http://schemas.microsoft.com/office/drawing/2014/main" id="{78D84F11-259D-4A70-8030-5D8C6B2736CD}"/>
              </a:ext>
            </a:extLst>
          </p:cNvPr>
          <p:cNvSpPr/>
          <p:nvPr/>
        </p:nvSpPr>
        <p:spPr>
          <a:xfrm>
            <a:off x="838200" y="1371600"/>
            <a:ext cx="1219200" cy="508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31927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E5A935-5855-CCB3-777F-B9A98CAB8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AI</a:t>
            </a:r>
            <a:r>
              <a:rPr kumimoji="1" lang="ja-JP" altLang="en-US" dirty="0"/>
              <a:t>駆動開発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F8AE6D-EE49-1D92-1A19-1AB5514B7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1800"/>
            <a:ext cx="10515600" cy="1701800"/>
          </a:xfrm>
        </p:spPr>
        <p:txBody>
          <a:bodyPr/>
          <a:lstStyle/>
          <a:p>
            <a:pPr>
              <a:spcBef>
                <a:spcPts val="400"/>
              </a:spcBef>
            </a:pPr>
            <a:r>
              <a:rPr lang="en-US" altLang="ja-JP" sz="2000" b="1" dirty="0"/>
              <a:t>Claude Design</a:t>
            </a:r>
            <a:r>
              <a:rPr lang="ja-JP" altLang="en-US" sz="2000" dirty="0"/>
              <a:t>でワイヤーフレームを作成</a:t>
            </a:r>
          </a:p>
          <a:p>
            <a:pPr marL="342900" indent="0">
              <a:buNone/>
            </a:pPr>
            <a:r>
              <a:rPr lang="ja-JP" altLang="en-US" sz="1800" dirty="0">
                <a:solidFill>
                  <a:srgbClr val="6B7B8A"/>
                </a:solidFill>
              </a:rPr>
              <a:t>→ 対話形式で即座に視覚化・修正でき、</a:t>
            </a:r>
            <a:r>
              <a:rPr lang="ja-JP" altLang="en-US" sz="1800" b="1" dirty="0">
                <a:solidFill>
                  <a:srgbClr val="6B7B8A"/>
                </a:solidFill>
              </a:rPr>
              <a:t>短期間でプロトタイプを開発</a:t>
            </a:r>
          </a:p>
          <a:p>
            <a:pPr>
              <a:spcBef>
                <a:spcPts val="600"/>
              </a:spcBef>
            </a:pPr>
            <a:r>
              <a:rPr lang="en-US" altLang="ja-JP" sz="2000" dirty="0"/>
              <a:t>AI</a:t>
            </a:r>
            <a:r>
              <a:rPr lang="ja-JP" altLang="en-US" sz="2000" dirty="0"/>
              <a:t>に読み込ませる </a:t>
            </a:r>
            <a:r>
              <a:rPr lang="en-US" altLang="ja-JP" sz="2000" b="1" dirty="0"/>
              <a:t>context</a:t>
            </a:r>
            <a:r>
              <a:rPr lang="ja-JP" altLang="en-US" sz="2000" b="1" dirty="0"/>
              <a:t>（</a:t>
            </a:r>
            <a:r>
              <a:rPr lang="en-US" altLang="ja-JP" sz="2000" b="1" dirty="0"/>
              <a:t>AGENTS.md</a:t>
            </a:r>
            <a:r>
              <a:rPr lang="ja-JP" altLang="en-US" sz="2000" b="1" dirty="0"/>
              <a:t>・</a:t>
            </a:r>
            <a:r>
              <a:rPr lang="en-US" altLang="ja-JP" sz="2000" b="1" dirty="0"/>
              <a:t>docs/</a:t>
            </a:r>
            <a:r>
              <a:rPr lang="ja-JP" altLang="en-US" sz="2000" b="1" dirty="0"/>
              <a:t> 等）を定期的に整備</a:t>
            </a:r>
          </a:p>
          <a:p>
            <a:pPr marL="342900" indent="0">
              <a:buNone/>
            </a:pPr>
            <a:r>
              <a:rPr lang="ja-JP" altLang="en-US" sz="1800" dirty="0">
                <a:solidFill>
                  <a:srgbClr val="6B7B8A"/>
                </a:solidFill>
              </a:rPr>
              <a:t>→ ドキュメント整備により、</a:t>
            </a:r>
            <a:r>
              <a:rPr lang="ja-JP" altLang="en-US" sz="1800" b="1" dirty="0">
                <a:solidFill>
                  <a:srgbClr val="6B7B8A"/>
                </a:solidFill>
              </a:rPr>
              <a:t>異なる </a:t>
            </a:r>
            <a:r>
              <a:rPr lang="en-US" altLang="ja-JP" sz="1800" b="1" dirty="0">
                <a:solidFill>
                  <a:srgbClr val="6B7B8A"/>
                </a:solidFill>
              </a:rPr>
              <a:t>AI</a:t>
            </a:r>
            <a:r>
              <a:rPr lang="ja-JP" altLang="en-US" sz="1800" b="1" dirty="0">
                <a:solidFill>
                  <a:srgbClr val="6B7B8A"/>
                </a:solidFill>
              </a:rPr>
              <a:t>エージェントでも統一的なレイアウト・設計思想を維持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BC77F56-71CA-9447-50B9-89115304A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3492500"/>
            <a:ext cx="5727700" cy="3136900"/>
          </a:xfrm>
          <a:prstGeom prst="rect">
            <a:avLst/>
          </a:prstGeom>
        </p:spPr>
      </p:pic>
      <p:sp>
        <p:nvSpPr>
          <p:cNvPr id="4" name="TitleAccent">
            <a:extLst>
              <a:ext uri="{FF2B5EF4-FFF2-40B4-BE49-F238E27FC236}">
                <a16:creationId xmlns:a16="http://schemas.microsoft.com/office/drawing/2014/main" id="{17A1B17D-3225-425B-B505-FF2E3CFD5B88}"/>
              </a:ext>
            </a:extLst>
          </p:cNvPr>
          <p:cNvSpPr/>
          <p:nvPr/>
        </p:nvSpPr>
        <p:spPr>
          <a:xfrm>
            <a:off x="838200" y="1371600"/>
            <a:ext cx="1219200" cy="508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56983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AEB1DBD-A6D6-67FB-2A3C-86BEF7142750}"/>
              </a:ext>
            </a:extLst>
          </p:cNvPr>
          <p:cNvSpPr txBox="1"/>
          <p:nvPr/>
        </p:nvSpPr>
        <p:spPr>
          <a:xfrm>
            <a:off x="3951823" y="2767280"/>
            <a:ext cx="42883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000" b="1" dirty="0"/>
              <a:t>画面デモ</a:t>
            </a:r>
          </a:p>
        </p:txBody>
      </p:sp>
      <p:sp>
        <p:nvSpPr>
          <p:cNvPr id="3" name="DemoAccent">
            <a:extLst>
              <a:ext uri="{FF2B5EF4-FFF2-40B4-BE49-F238E27FC236}">
                <a16:creationId xmlns:a16="http://schemas.microsoft.com/office/drawing/2014/main" id="{A5927F06-1C64-42EF-A814-79D115569E58}"/>
              </a:ext>
            </a:extLst>
          </p:cNvPr>
          <p:cNvSpPr/>
          <p:nvPr/>
        </p:nvSpPr>
        <p:spPr>
          <a:xfrm>
            <a:off x="5334000" y="4381500"/>
            <a:ext cx="1524000" cy="508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98319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 [1783420925628]">
  <a:themeElements>
    <a:clrScheme name="Office">
      <a:dk1>
        <a:srgbClr val="1B2733"/>
      </a:dk1>
      <a:lt1>
        <a:srgbClr val="FFFFFF"/>
      </a:lt1>
      <a:dk2>
        <a:srgbClr val="0E2841"/>
      </a:dk2>
      <a:lt2>
        <a:srgbClr val="F1F4F6"/>
      </a:lt2>
      <a:accent1>
        <a:srgbClr val="156082"/>
      </a:accent1>
      <a:accent2>
        <a:srgbClr val="0F9ED5"/>
      </a:accent2>
      <a:accent3>
        <a:srgbClr val="3B7C8A"/>
      </a:accent3>
      <a:accent4>
        <a:srgbClr val="5FA8B8"/>
      </a:accent4>
      <a:accent5>
        <a:srgbClr val="6B7B8A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">
      <a:majorFont>
        <a:latin typeface="Segoe UI" panose="02110004020202020204"/>
        <a:ea typeface="游ゴシック"/>
        <a:cs typeface=""/>
        <a:font script="Jpan" typeface="游ゴシック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游ゴシック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1AA8757-FD35-47C9-8BFE-C460EC2840ED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c3931f0-9de1-437c-9dc6-aec052f12f4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201</Words>
  <Application>Microsoft Office PowerPoint</Application>
  <PresentationFormat>ワイド画面</PresentationFormat>
  <Paragraphs>26</Paragraphs>
  <Slides>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Arial</vt:lpstr>
      <vt:lpstr>Segoe UI</vt:lpstr>
      <vt:lpstr>Office テーマ [1783420925628]</vt:lpstr>
      <vt:lpstr>チーム6 発表</vt:lpstr>
      <vt:lpstr>ユースケース</vt:lpstr>
      <vt:lpstr>クラス図に基づく設計</vt:lpstr>
      <vt:lpstr>開発プロセスの工夫</vt:lpstr>
      <vt:lpstr>AI駆動開発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S242640163</dc:creator>
  <cp:lastModifiedBy>S242640163</cp:lastModifiedBy>
  <cp:revision>3</cp:revision>
  <dcterms:created xsi:type="dcterms:W3CDTF">2026-07-07T09:01:15Z</dcterms:created>
  <dcterms:modified xsi:type="dcterms:W3CDTF">2026-07-07T11:21:51Z</dcterms:modified>
</cp:coreProperties>
</file>